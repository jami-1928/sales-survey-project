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9" r:id="rId11"/>
    <p:sldId id="264" r:id="rId12"/>
    <p:sldId id="268" r:id="rId13"/>
    <p:sldId id="265" r:id="rId14"/>
    <p:sldId id="266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BFE34E-5A21-4FD9-9EB5-B45E8918CC0F}" v="15" dt="2025-11-26T21:56:08.2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101CA-DEE1-41C3-A2CF-DA2D8EFEEBE6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E533F-C46D-489D-8098-FCEBED096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349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101CA-DEE1-41C3-A2CF-DA2D8EFEEBE6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E533F-C46D-489D-8098-FCEBED096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9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101CA-DEE1-41C3-A2CF-DA2D8EFEEBE6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E533F-C46D-489D-8098-FCEBED096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766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101CA-DEE1-41C3-A2CF-DA2D8EFEEBE6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E533F-C46D-489D-8098-FCEBED096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123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101CA-DEE1-41C3-A2CF-DA2D8EFEEBE6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E533F-C46D-489D-8098-FCEBED096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083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101CA-DEE1-41C3-A2CF-DA2D8EFEEBE6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E533F-C46D-489D-8098-FCEBED096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908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101CA-DEE1-41C3-A2CF-DA2D8EFEEBE6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E533F-C46D-489D-8098-FCEBED096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777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101CA-DEE1-41C3-A2CF-DA2D8EFEEBE6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E533F-C46D-489D-8098-FCEBED096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73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101CA-DEE1-41C3-A2CF-DA2D8EFEEBE6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E533F-C46D-489D-8098-FCEBED096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848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101CA-DEE1-41C3-A2CF-DA2D8EFEEBE6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E533F-C46D-489D-8098-FCEBED096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066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101CA-DEE1-41C3-A2CF-DA2D8EFEEBE6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E533F-C46D-489D-8098-FCEBED096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3610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101CA-DEE1-41C3-A2CF-DA2D8EFEEBE6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E533F-C46D-489D-8098-FCEBED0961A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614923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101CA-DEE1-41C3-A2CF-DA2D8EFEEBE6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E533F-C46D-489D-8098-FCEBED096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70947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101CA-DEE1-41C3-A2CF-DA2D8EFEEBE6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E533F-C46D-489D-8098-FCEBED096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0402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101CA-DEE1-41C3-A2CF-DA2D8EFEEBE6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E533F-C46D-489D-8098-FCEBED096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7453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101CA-DEE1-41C3-A2CF-DA2D8EFEEBE6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E533F-C46D-489D-8098-FCEBED096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2556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101CA-DEE1-41C3-A2CF-DA2D8EFEEBE6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E533F-C46D-489D-8098-FCEBED096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054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BB101CA-DEE1-41C3-A2CF-DA2D8EFEEBE6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6E533F-C46D-489D-8098-FCEBED0961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75038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1070E-7ADB-DC41-B851-2AFA4D7631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1"/>
            <a:ext cx="8825658" cy="2465832"/>
          </a:xfrm>
        </p:spPr>
        <p:txBody>
          <a:bodyPr/>
          <a:lstStyle/>
          <a:p>
            <a:pPr algn="ctr"/>
            <a:r>
              <a:rPr lang="en-US" dirty="0"/>
              <a:t>SALARY SURVEY </a:t>
            </a:r>
            <a:br>
              <a:rPr lang="en-US" dirty="0"/>
            </a:br>
            <a:r>
              <a:rPr lang="en-US" dirty="0"/>
              <a:t>ANALYSIS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F2DEA6-BDE4-6515-887D-11EC292A88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5410199"/>
            <a:ext cx="3462765" cy="861420"/>
          </a:xfrm>
        </p:spPr>
        <p:txBody>
          <a:bodyPr/>
          <a:lstStyle/>
          <a:p>
            <a:r>
              <a:rPr lang="en-US" dirty="0"/>
              <a:t>Presented By</a:t>
            </a:r>
          </a:p>
          <a:p>
            <a:r>
              <a:rPr lang="en-US" dirty="0"/>
              <a:t>JAMES VASANTHAN R</a:t>
            </a:r>
          </a:p>
        </p:txBody>
      </p:sp>
    </p:spTree>
    <p:extLst>
      <p:ext uri="{BB962C8B-B14F-4D97-AF65-F5344CB8AC3E}">
        <p14:creationId xmlns:p14="http://schemas.microsoft.com/office/powerpoint/2010/main" val="3151517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E9434-FC05-358B-E0C7-5DBC55C84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5449889" cy="1400530"/>
          </a:xfrm>
        </p:spPr>
        <p:txBody>
          <a:bodyPr/>
          <a:lstStyle/>
          <a:p>
            <a:r>
              <a:rPr lang="en-US" dirty="0"/>
              <a:t>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FB076-B5B2-9834-ADCE-3D0A9DC7B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7690" y="1583686"/>
            <a:ext cx="10543256" cy="1845314"/>
          </a:xfrm>
        </p:spPr>
        <p:txBody>
          <a:bodyPr/>
          <a:lstStyle/>
          <a:p>
            <a:pPr marL="285750" indent="-285750"/>
            <a:r>
              <a:rPr lang="en-US" dirty="0"/>
              <a:t>Compare salary across industries, job titles, and countries</a:t>
            </a:r>
          </a:p>
          <a:p>
            <a:pPr marL="285750" indent="-285750"/>
            <a:r>
              <a:rPr lang="en-US" dirty="0"/>
              <a:t>Identify salary variations by gender, experience, and education</a:t>
            </a:r>
          </a:p>
          <a:p>
            <a:pPr marL="285750" indent="-285750"/>
            <a:r>
              <a:rPr lang="en-US" dirty="0"/>
              <a:t>Calculate total compensation using SQL queries</a:t>
            </a:r>
          </a:p>
          <a:p>
            <a:pPr marL="285750" indent="-285750"/>
            <a:r>
              <a:rPr lang="en-US" dirty="0"/>
              <a:t>Visualize insights using Excel Pivot Tables &amp; Dashboard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C2121-AC42-0B58-4FCD-43A0AA1CF181}"/>
              </a:ext>
            </a:extLst>
          </p:cNvPr>
          <p:cNvSpPr txBox="1"/>
          <p:nvPr/>
        </p:nvSpPr>
        <p:spPr>
          <a:xfrm>
            <a:off x="646111" y="3575304"/>
            <a:ext cx="31272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+mj-lt"/>
              </a:rPr>
              <a:t>TOOL USED</a:t>
            </a:r>
            <a:endParaRPr lang="en-IN" sz="40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DCE1BD-E6C2-D8F0-CDCF-B6D9FE1AD914}"/>
              </a:ext>
            </a:extLst>
          </p:cNvPr>
          <p:cNvSpPr txBox="1"/>
          <p:nvPr/>
        </p:nvSpPr>
        <p:spPr>
          <a:xfrm>
            <a:off x="1247690" y="4373957"/>
            <a:ext cx="6094476" cy="1684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MySQL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Excel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Pivot Charts</a:t>
            </a:r>
          </a:p>
        </p:txBody>
      </p:sp>
    </p:spTree>
    <p:extLst>
      <p:ext uri="{BB962C8B-B14F-4D97-AF65-F5344CB8AC3E}">
        <p14:creationId xmlns:p14="http://schemas.microsoft.com/office/powerpoint/2010/main" val="2323850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EA6CD-73C1-599F-4ADD-97F87B835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28610"/>
          </a:xfrm>
        </p:spPr>
        <p:txBody>
          <a:bodyPr/>
          <a:lstStyle/>
          <a:p>
            <a:r>
              <a:rPr lang="en-US" dirty="0"/>
              <a:t>A</a:t>
            </a:r>
            <a:r>
              <a:rPr lang="en-IN" dirty="0"/>
              <a:t>TTRIBUTES: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A3275-CE8F-959B-C756-F36237BDA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532" y="1860894"/>
            <a:ext cx="10024936" cy="4195481"/>
          </a:xfrm>
        </p:spPr>
        <p:txBody>
          <a:bodyPr/>
          <a:lstStyle/>
          <a:p>
            <a:r>
              <a:rPr lang="en-IN" dirty="0"/>
              <a:t>Age Range</a:t>
            </a:r>
          </a:p>
          <a:p>
            <a:r>
              <a:rPr lang="en-IN" dirty="0"/>
              <a:t>Industry Job Title &amp; Clarification</a:t>
            </a:r>
          </a:p>
          <a:p>
            <a:r>
              <a:rPr lang="en-IN" dirty="0"/>
              <a:t>Annual Salary</a:t>
            </a:r>
          </a:p>
          <a:p>
            <a:r>
              <a:rPr lang="en-IN" dirty="0"/>
              <a:t>Additional Compensation (Bonus, Incentives)</a:t>
            </a:r>
          </a:p>
          <a:p>
            <a:r>
              <a:rPr lang="en-IN" dirty="0"/>
              <a:t>Country, State, City</a:t>
            </a:r>
          </a:p>
          <a:p>
            <a:r>
              <a:rPr lang="en-IN" dirty="0"/>
              <a:t>Years of Overall &amp; Field Experience</a:t>
            </a:r>
          </a:p>
          <a:p>
            <a:r>
              <a:rPr lang="en-IN" dirty="0"/>
              <a:t>Highest Education Level</a:t>
            </a:r>
          </a:p>
          <a:p>
            <a:r>
              <a:rPr lang="en-IN" dirty="0"/>
              <a:t>Gender Currency Details</a:t>
            </a:r>
          </a:p>
          <a:p>
            <a:r>
              <a:rPr lang="en-IN" dirty="0"/>
              <a:t>Dataset stored and </a:t>
            </a:r>
            <a:r>
              <a:rPr lang="en-IN" dirty="0" err="1"/>
              <a:t>analyzed</a:t>
            </a:r>
            <a:r>
              <a:rPr lang="en-IN" dirty="0"/>
              <a:t> through SQL → exported to Querys.xlsx.</a:t>
            </a:r>
          </a:p>
        </p:txBody>
      </p:sp>
    </p:spTree>
    <p:extLst>
      <p:ext uri="{BB962C8B-B14F-4D97-AF65-F5344CB8AC3E}">
        <p14:creationId xmlns:p14="http://schemas.microsoft.com/office/powerpoint/2010/main" val="719274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6A97C-A9DC-8D46-0E32-C6E030820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2E29E-A232-F20B-13EB-0A89C7079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853248"/>
            <a:ext cx="8946541" cy="4195481"/>
          </a:xfrm>
        </p:spPr>
        <p:txBody>
          <a:bodyPr/>
          <a:lstStyle/>
          <a:p>
            <a:pPr marL="285750" indent="-285750">
              <a:lnSpc>
                <a:spcPct val="150000"/>
              </a:lnSpc>
            </a:pPr>
            <a:r>
              <a:rPr lang="en-US" dirty="0"/>
              <a:t>Removed duplicates</a:t>
            </a:r>
          </a:p>
          <a:p>
            <a:pPr marL="285750" indent="-285750">
              <a:lnSpc>
                <a:spcPct val="150000"/>
              </a:lnSpc>
            </a:pPr>
            <a:r>
              <a:rPr lang="en-US" dirty="0"/>
              <a:t>Filled missing values (Unknown / Median)</a:t>
            </a:r>
          </a:p>
          <a:p>
            <a:pPr marL="285750" indent="-285750">
              <a:lnSpc>
                <a:spcPct val="150000"/>
              </a:lnSpc>
            </a:pPr>
            <a:r>
              <a:rPr lang="en-US" dirty="0"/>
              <a:t>Standardized job titles &amp; countries</a:t>
            </a:r>
          </a:p>
          <a:p>
            <a:pPr marL="285750" indent="-285750">
              <a:lnSpc>
                <a:spcPct val="150000"/>
              </a:lnSpc>
            </a:pPr>
            <a:r>
              <a:rPr lang="en-US" dirty="0"/>
              <a:t>Converted salary fields to numeric </a:t>
            </a:r>
          </a:p>
          <a:p>
            <a:pPr marL="285750" indent="-285750">
              <a:lnSpc>
                <a:spcPct val="150000"/>
              </a:lnSpc>
            </a:pPr>
            <a:r>
              <a:rPr lang="en-US" dirty="0"/>
              <a:t>Handled inconsistent formats </a:t>
            </a:r>
          </a:p>
          <a:p>
            <a:pPr marL="285750" indent="-285750">
              <a:lnSpc>
                <a:spcPct val="150000"/>
              </a:lnSpc>
            </a:pPr>
            <a:r>
              <a:rPr lang="en-US" dirty="0"/>
              <a:t>Treated extreme salary outliers </a:t>
            </a:r>
          </a:p>
          <a:p>
            <a:pPr marL="285750" indent="-285750">
              <a:lnSpc>
                <a:spcPct val="150000"/>
              </a:lnSpc>
            </a:pPr>
            <a:r>
              <a:rPr lang="en-US" dirty="0"/>
              <a:t>Exported cleaned dataset for SQL import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7628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86D51-6F18-370A-8637-6A8D1CF94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TRANSFORMATION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2825E-10F6-3F96-7C16-D8215CC60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661224"/>
            <a:ext cx="8946541" cy="4552034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lnSpc>
                <a:spcPct val="150000"/>
              </a:lnSpc>
            </a:pPr>
            <a:r>
              <a:rPr lang="en-US" dirty="0"/>
              <a:t>After the cleaning imported the data to SQL was chosen to ensure scalability, automation, and professional grade analysis.</a:t>
            </a:r>
          </a:p>
          <a:p>
            <a:pPr marL="285750" indent="-285750">
              <a:lnSpc>
                <a:spcPct val="150000"/>
              </a:lnSpc>
            </a:pPr>
            <a:r>
              <a:rPr lang="en-US" dirty="0"/>
              <a:t>SQL makes it easy to perform aggregations, joins, and filter.</a:t>
            </a:r>
          </a:p>
          <a:p>
            <a:pPr marL="285750" indent="-285750">
              <a:lnSpc>
                <a:spcPct val="150000"/>
              </a:lnSpc>
            </a:pPr>
            <a:r>
              <a:rPr lang="en-US" dirty="0"/>
              <a:t>Average Salary by Industry &amp; Gender</a:t>
            </a:r>
          </a:p>
          <a:p>
            <a:pPr marL="285750" indent="-285750">
              <a:lnSpc>
                <a:spcPct val="150000"/>
              </a:lnSpc>
            </a:pPr>
            <a:r>
              <a:rPr lang="en-US" dirty="0"/>
              <a:t>Total Compensation by Job Title</a:t>
            </a:r>
          </a:p>
          <a:p>
            <a:pPr marL="285750" indent="-285750">
              <a:lnSpc>
                <a:spcPct val="150000"/>
              </a:lnSpc>
            </a:pPr>
            <a:r>
              <a:rPr lang="en-US" dirty="0"/>
              <a:t>Salary Distribution by Education Level</a:t>
            </a:r>
          </a:p>
          <a:p>
            <a:pPr marL="285750" indent="-285750">
              <a:lnSpc>
                <a:spcPct val="150000"/>
              </a:lnSpc>
            </a:pPr>
            <a:r>
              <a:rPr lang="en-US" dirty="0"/>
              <a:t>Employee Count by Industry &amp; Experience</a:t>
            </a:r>
          </a:p>
          <a:p>
            <a:pPr marL="285750" indent="-285750">
              <a:lnSpc>
                <a:spcPct val="150000"/>
              </a:lnSpc>
            </a:pPr>
            <a:r>
              <a:rPr lang="en-US" dirty="0"/>
              <a:t>Median Salary by Age &amp; Gender</a:t>
            </a:r>
          </a:p>
          <a:p>
            <a:pPr marL="285750" indent="-285750">
              <a:lnSpc>
                <a:spcPct val="150000"/>
              </a:lnSpc>
            </a:pPr>
            <a:r>
              <a:rPr lang="en-US" dirty="0"/>
              <a:t>Highest-Paid Job Title by Country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7276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AD674-39C5-0720-1839-650273EBA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QUERIES AND CHARTS </a:t>
            </a:r>
            <a:br>
              <a:rPr lang="en-US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4CCBD1-8BA4-E7AA-0E7B-1A3E803A45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30" t="32804" r="47682" b="45621"/>
          <a:stretch>
            <a:fillRect/>
          </a:stretch>
        </p:blipFill>
        <p:spPr>
          <a:xfrm>
            <a:off x="539497" y="3163824"/>
            <a:ext cx="5484080" cy="284378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1707AC-B69B-7329-1264-FA320106168C}"/>
              </a:ext>
            </a:extLst>
          </p:cNvPr>
          <p:cNvSpPr txBox="1"/>
          <p:nvPr/>
        </p:nvSpPr>
        <p:spPr>
          <a:xfrm>
            <a:off x="539497" y="1669394"/>
            <a:ext cx="59618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select industry, Gender, round(avg(</a:t>
            </a:r>
            <a:r>
              <a:rPr lang="en-US" dirty="0" err="1"/>
              <a:t>Salary_USD</a:t>
            </a:r>
            <a:r>
              <a:rPr lang="en-US" dirty="0"/>
              <a:t>),2) AS </a:t>
            </a:r>
            <a:r>
              <a:rPr lang="en-US" dirty="0" err="1"/>
              <a:t>Average_Salary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salary_survey</a:t>
            </a:r>
            <a:r>
              <a:rPr lang="en-US" dirty="0"/>
              <a:t> group by Industry, gender </a:t>
            </a:r>
          </a:p>
          <a:p>
            <a:r>
              <a:rPr lang="en-US" dirty="0"/>
              <a:t>order by Industry, gender ;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7A5E5F-E9C1-2D66-6852-660DDDD46872}"/>
              </a:ext>
            </a:extLst>
          </p:cNvPr>
          <p:cNvSpPr txBox="1"/>
          <p:nvPr/>
        </p:nvSpPr>
        <p:spPr>
          <a:xfrm>
            <a:off x="6912864" y="1669394"/>
            <a:ext cx="51480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Select </a:t>
            </a:r>
            <a:r>
              <a:rPr lang="en-US" dirty="0" err="1"/>
              <a:t>Job_Title</a:t>
            </a:r>
            <a:r>
              <a:rPr lang="en-US" dirty="0"/>
              <a:t>, round (sum(</a:t>
            </a:r>
            <a:r>
              <a:rPr lang="en-US" dirty="0" err="1"/>
              <a:t>Salary_USD</a:t>
            </a:r>
            <a:r>
              <a:rPr lang="en-US" dirty="0"/>
              <a:t>),2)  as </a:t>
            </a:r>
            <a:r>
              <a:rPr lang="en-US" dirty="0" err="1"/>
              <a:t>total_salary</a:t>
            </a:r>
            <a:r>
              <a:rPr lang="en-US" dirty="0"/>
              <a:t> from </a:t>
            </a:r>
            <a:r>
              <a:rPr lang="en-US" dirty="0" err="1"/>
              <a:t>salary_surveygroup</a:t>
            </a:r>
            <a:r>
              <a:rPr lang="en-US" dirty="0"/>
              <a:t> by </a:t>
            </a:r>
            <a:r>
              <a:rPr lang="en-US" dirty="0" err="1"/>
              <a:t>Job_Titleorder</a:t>
            </a:r>
            <a:r>
              <a:rPr lang="en-US" dirty="0"/>
              <a:t> by </a:t>
            </a:r>
            <a:r>
              <a:rPr lang="en-US" dirty="0" err="1"/>
              <a:t>Total_Salary</a:t>
            </a:r>
            <a:r>
              <a:rPr lang="en-US" dirty="0"/>
              <a:t> desc;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81A8A1-C055-7DE8-350A-4CAFEBC54D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12" t="58156" r="53656" b="16666"/>
          <a:stretch>
            <a:fillRect/>
          </a:stretch>
        </p:blipFill>
        <p:spPr>
          <a:xfrm>
            <a:off x="6638543" y="3003710"/>
            <a:ext cx="5249718" cy="3127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140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C5412C-6FEB-85C7-17E2-0E609DF129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79" t="34120" r="23182" b="41827"/>
          <a:stretch>
            <a:fillRect/>
          </a:stretch>
        </p:blipFill>
        <p:spPr>
          <a:xfrm>
            <a:off x="301751" y="694944"/>
            <a:ext cx="3931921" cy="219310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CEC1AB-10B5-E8D7-2196-416B4ECA08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15" t="66400" r="16526" b="8800"/>
          <a:stretch>
            <a:fillRect/>
          </a:stretch>
        </p:blipFill>
        <p:spPr>
          <a:xfrm>
            <a:off x="5175505" y="3575304"/>
            <a:ext cx="6856230" cy="27249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1AE8A0-57A5-3306-BBF3-EC050C32836E}"/>
              </a:ext>
            </a:extLst>
          </p:cNvPr>
          <p:cNvSpPr txBox="1"/>
          <p:nvPr/>
        </p:nvSpPr>
        <p:spPr>
          <a:xfrm>
            <a:off x="5294376" y="877824"/>
            <a:ext cx="49469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select city, industry, round(avg(</a:t>
            </a:r>
            <a:r>
              <a:rPr lang="en-US" dirty="0" err="1"/>
              <a:t>salary_usd</a:t>
            </a:r>
            <a:r>
              <a:rPr lang="en-US" dirty="0"/>
              <a:t>),2) as </a:t>
            </a:r>
            <a:r>
              <a:rPr lang="en-US" dirty="0" err="1"/>
              <a:t>Average_salary</a:t>
            </a:r>
            <a:r>
              <a:rPr lang="en-US" dirty="0"/>
              <a:t> from </a:t>
            </a:r>
            <a:r>
              <a:rPr lang="en-US" dirty="0" err="1"/>
              <a:t>salary_survey</a:t>
            </a:r>
            <a:r>
              <a:rPr lang="en-US" dirty="0"/>
              <a:t> group by city, industry;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2BD510-E633-5BD5-3CFA-3A3D5A5C4EAF}"/>
              </a:ext>
            </a:extLst>
          </p:cNvPr>
          <p:cNvSpPr txBox="1"/>
          <p:nvPr/>
        </p:nvSpPr>
        <p:spPr>
          <a:xfrm>
            <a:off x="658368" y="3858768"/>
            <a:ext cx="42153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select Gender,ï»¿</a:t>
            </a:r>
            <a:r>
              <a:rPr lang="en-US" dirty="0" err="1"/>
              <a:t>Age_Range</a:t>
            </a:r>
            <a:r>
              <a:rPr lang="en-US" dirty="0"/>
              <a:t> round(avg(</a:t>
            </a:r>
            <a:r>
              <a:rPr lang="en-US" dirty="0" err="1"/>
              <a:t>salary_usd</a:t>
            </a:r>
            <a:r>
              <a:rPr lang="en-US" dirty="0"/>
              <a:t>),2) as median from </a:t>
            </a:r>
            <a:r>
              <a:rPr lang="en-US" dirty="0" err="1"/>
              <a:t>salary_survey</a:t>
            </a:r>
            <a:r>
              <a:rPr lang="en-US" dirty="0"/>
              <a:t> group by Gender,ï»¿</a:t>
            </a:r>
            <a:r>
              <a:rPr lang="en-US" dirty="0" err="1"/>
              <a:t>Age_Range</a:t>
            </a:r>
            <a:r>
              <a:rPr lang="en-US" dirty="0"/>
              <a:t>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8740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7422E-8091-D644-9532-798BD4B7E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EXPORT TO EXCEL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0C966-5F91-92B3-4AAD-671395E0B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</a:pPr>
            <a:r>
              <a:rPr lang="en-US" dirty="0"/>
              <a:t>SQL queries were executed, results exported into excel for visualization.</a:t>
            </a:r>
          </a:p>
          <a:p>
            <a:pPr marL="285750" indent="-285750">
              <a:lnSpc>
                <a:spcPct val="150000"/>
              </a:lnSpc>
            </a:pPr>
            <a:r>
              <a:rPr lang="en-US" dirty="0"/>
              <a:t>Power Pivot or Pivot table, charts and slicers are easier to build in excel for Dashboard.</a:t>
            </a:r>
          </a:p>
          <a:p>
            <a:pPr marL="285750" indent="-285750">
              <a:lnSpc>
                <a:spcPct val="150000"/>
              </a:lnSpc>
            </a:pPr>
            <a:r>
              <a:rPr lang="en-US" dirty="0"/>
              <a:t>This step bridges technical analysis(SQL) with business- friendly Dashboards.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3385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49E58-3ABB-F092-F75A-21A33131D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SALARY SURVEY DASHBOARD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BA2352-03BC-0EC3-0877-886D1DB75D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04" r="30397" b="8136"/>
          <a:stretch>
            <a:fillRect/>
          </a:stretch>
        </p:blipFill>
        <p:spPr>
          <a:xfrm>
            <a:off x="646111" y="1403604"/>
            <a:ext cx="10170973" cy="5070348"/>
          </a:xfrm>
        </p:spPr>
      </p:pic>
    </p:spTree>
    <p:extLst>
      <p:ext uri="{BB962C8B-B14F-4D97-AF65-F5344CB8AC3E}">
        <p14:creationId xmlns:p14="http://schemas.microsoft.com/office/powerpoint/2010/main" val="2380987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2F814-D51D-11E5-A8F6-E7DCAECB4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SUMMARY: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1BE91-647F-1F67-6A5B-F5B78033A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615504"/>
            <a:ext cx="8946541" cy="4395151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Excel Dashboard includes : </a:t>
            </a:r>
          </a:p>
          <a:p>
            <a:pPr>
              <a:lnSpc>
                <a:spcPct val="150000"/>
              </a:lnSpc>
            </a:pPr>
            <a:r>
              <a:rPr lang="en-US" dirty="0"/>
              <a:t>Salary by Industry Bar Chart </a:t>
            </a:r>
          </a:p>
          <a:p>
            <a:pPr>
              <a:lnSpc>
                <a:spcPct val="150000"/>
              </a:lnSpc>
            </a:pPr>
            <a:r>
              <a:rPr lang="en-US" dirty="0"/>
              <a:t>Gender vs Salary Comparison Chart </a:t>
            </a:r>
          </a:p>
          <a:p>
            <a:pPr>
              <a:lnSpc>
                <a:spcPct val="150000"/>
              </a:lnSpc>
            </a:pPr>
            <a:r>
              <a:rPr lang="en-US" dirty="0"/>
              <a:t>Experience vs Salary Line Chart </a:t>
            </a:r>
          </a:p>
          <a:p>
            <a:pPr>
              <a:lnSpc>
                <a:spcPct val="150000"/>
              </a:lnSpc>
            </a:pPr>
            <a:r>
              <a:rPr lang="en-US" dirty="0"/>
              <a:t>Salary by Education Level </a:t>
            </a:r>
          </a:p>
          <a:p>
            <a:pPr>
              <a:lnSpc>
                <a:spcPct val="150000"/>
              </a:lnSpc>
            </a:pPr>
            <a:r>
              <a:rPr lang="en-US" dirty="0"/>
              <a:t>Top-Paying Job Titles </a:t>
            </a:r>
          </a:p>
          <a:p>
            <a:pPr>
              <a:lnSpc>
                <a:spcPct val="150000"/>
              </a:lnSpc>
            </a:pPr>
            <a:r>
              <a:rPr lang="en-US" dirty="0"/>
              <a:t>Country &amp; City-Based Salary Trends </a:t>
            </a:r>
          </a:p>
          <a:p>
            <a:pPr>
              <a:lnSpc>
                <a:spcPct val="150000"/>
              </a:lnSpc>
            </a:pPr>
            <a:r>
              <a:rPr lang="en-US" dirty="0"/>
              <a:t>Provides a clear interactive view of salary patterns.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2467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C300E-9F6B-D8D5-84D4-7784F205F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80BD7-C297-2C44-DF50-43ABED22C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853248"/>
            <a:ext cx="8946541" cy="4395151"/>
          </a:xfrm>
        </p:spPr>
        <p:txBody>
          <a:bodyPr/>
          <a:lstStyle/>
          <a:p>
            <a:r>
              <a:rPr lang="en-US" b="1" dirty="0"/>
              <a:t>Key Insight 1: </a:t>
            </a:r>
            <a:r>
              <a:rPr lang="en-US" dirty="0"/>
              <a:t>Salary vs Experience Strong positive correlation between salary and experience Major salary jump between 5–10 years of experience </a:t>
            </a:r>
          </a:p>
          <a:p>
            <a:r>
              <a:rPr lang="en-US" dirty="0"/>
              <a:t>Growth slows after 15+ years (career plateau)Senior professionals show stable, higher compensation across industries</a:t>
            </a:r>
          </a:p>
          <a:p>
            <a:endParaRPr lang="en-US" dirty="0"/>
          </a:p>
          <a:p>
            <a:r>
              <a:rPr lang="en-US" b="1" dirty="0"/>
              <a:t>Key Insight 2 : </a:t>
            </a:r>
            <a:r>
              <a:rPr lang="en-US" dirty="0"/>
              <a:t>Education Level Matters Master’s degree holders earn 20–40% more than Bachelor’s PhD professionals have the highest median salary </a:t>
            </a:r>
          </a:p>
          <a:p>
            <a:r>
              <a:rPr lang="en-US" dirty="0"/>
              <a:t>Skill-heavy roles (Software Engineering) offer high pay without advanced degrees Education is a major driver for salary growth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4947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B6641-1183-9AED-CA65-05931D269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740664"/>
            <a:ext cx="8946541" cy="550773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b="1" dirty="0"/>
              <a:t>Key Insight 3: </a:t>
            </a:r>
            <a:r>
              <a:rPr lang="en-IN" dirty="0"/>
              <a:t>Job Title Hierarchy Senior roles = 30–50% higher compensation </a:t>
            </a:r>
          </a:p>
          <a:p>
            <a:pPr>
              <a:lnSpc>
                <a:spcPct val="150000"/>
              </a:lnSpc>
            </a:pPr>
            <a:r>
              <a:rPr lang="en-IN" dirty="0"/>
              <a:t>Highest-paying roles : Data Scientist Senior Software EngineerProject Manager Senior Consultant Clear salary progression from </a:t>
            </a:r>
          </a:p>
          <a:p>
            <a:pPr>
              <a:lnSpc>
                <a:spcPct val="150000"/>
              </a:lnSpc>
            </a:pPr>
            <a:r>
              <a:rPr lang="en-IN" dirty="0"/>
              <a:t>Analyst → Senior → Manager</a:t>
            </a:r>
          </a:p>
          <a:p>
            <a:pPr>
              <a:lnSpc>
                <a:spcPct val="150000"/>
              </a:lnSpc>
            </a:pPr>
            <a:endParaRPr lang="en-IN" dirty="0"/>
          </a:p>
          <a:p>
            <a:pPr>
              <a:lnSpc>
                <a:spcPct val="150000"/>
              </a:lnSpc>
            </a:pPr>
            <a:r>
              <a:rPr lang="en-US" b="1" dirty="0"/>
              <a:t>Key Insight 4: </a:t>
            </a:r>
            <a:r>
              <a:rPr lang="en-US" dirty="0"/>
              <a:t>Gender Salary Gap Male employees earn 8–15% more on average Gap is smaller in Education, HR, Health care </a:t>
            </a:r>
          </a:p>
          <a:p>
            <a:pPr>
              <a:lnSpc>
                <a:spcPct val="150000"/>
              </a:lnSpc>
            </a:pPr>
            <a:r>
              <a:rPr lang="en-US" dirty="0"/>
              <a:t>Most noticeable in Tech and Finance Bonus/Additional compensation shows similar patterns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0014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C038-79F3-AD8C-5D77-DB944E6AA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 &amp; 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93D93-00C6-81D1-EF52-DBB865646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b="1" dirty="0"/>
              <a:t>Recommendations :</a:t>
            </a:r>
          </a:p>
          <a:p>
            <a:pPr>
              <a:lnSpc>
                <a:spcPct val="150000"/>
              </a:lnSpc>
            </a:pPr>
            <a:r>
              <a:rPr lang="en-IN" dirty="0"/>
              <a:t>Expand dataset with multi-year data </a:t>
            </a:r>
          </a:p>
          <a:p>
            <a:pPr>
              <a:lnSpc>
                <a:spcPct val="150000"/>
              </a:lnSpc>
            </a:pPr>
            <a:r>
              <a:rPr lang="en-IN" dirty="0"/>
              <a:t>Standardize currencies &amp; compensation </a:t>
            </a:r>
          </a:p>
          <a:p>
            <a:pPr>
              <a:lnSpc>
                <a:spcPct val="150000"/>
              </a:lnSpc>
            </a:pPr>
            <a:r>
              <a:rPr lang="en-IN" dirty="0"/>
              <a:t>Collect more detailed job role information </a:t>
            </a:r>
          </a:p>
          <a:p>
            <a:pPr>
              <a:lnSpc>
                <a:spcPct val="150000"/>
              </a:lnSpc>
            </a:pPr>
            <a:r>
              <a:rPr lang="en-IN" dirty="0"/>
              <a:t>Include skills and certifications in future datasets </a:t>
            </a:r>
          </a:p>
          <a:p>
            <a:pPr>
              <a:lnSpc>
                <a:spcPct val="150000"/>
              </a:lnSpc>
            </a:pPr>
            <a:r>
              <a:rPr lang="en-IN" dirty="0"/>
              <a:t>Use BI tools for richer dashboards </a:t>
            </a:r>
          </a:p>
          <a:p>
            <a:pPr>
              <a:lnSpc>
                <a:spcPct val="150000"/>
              </a:lnSpc>
            </a:pPr>
            <a:r>
              <a:rPr lang="en-IN" dirty="0"/>
              <a:t>Apply ML for trend prediction</a:t>
            </a:r>
          </a:p>
        </p:txBody>
      </p:sp>
    </p:spTree>
    <p:extLst>
      <p:ext uri="{BB962C8B-B14F-4D97-AF65-F5344CB8AC3E}">
        <p14:creationId xmlns:p14="http://schemas.microsoft.com/office/powerpoint/2010/main" val="3933139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68802-892E-A3D5-0505-1B433DC73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530352"/>
            <a:ext cx="8946541" cy="5718047"/>
          </a:xfrm>
        </p:spPr>
        <p:txBody>
          <a:bodyPr/>
          <a:lstStyle/>
          <a:p>
            <a:r>
              <a:rPr lang="en-US" b="1" dirty="0"/>
              <a:t>Conclusion :</a:t>
            </a:r>
          </a:p>
          <a:p>
            <a:pPr>
              <a:lnSpc>
                <a:spcPct val="150000"/>
              </a:lnSpc>
            </a:pPr>
            <a:r>
              <a:rPr lang="en-US" dirty="0"/>
              <a:t>Salary is heavily influenced by experience, industry, job title, and education </a:t>
            </a:r>
          </a:p>
          <a:p>
            <a:pPr>
              <a:lnSpc>
                <a:spcPct val="150000"/>
              </a:lnSpc>
            </a:pPr>
            <a:r>
              <a:rPr lang="en-US" dirty="0"/>
              <a:t>Gender gaps still exist, varying by industry </a:t>
            </a:r>
          </a:p>
          <a:p>
            <a:pPr>
              <a:lnSpc>
                <a:spcPct val="150000"/>
              </a:lnSpc>
            </a:pPr>
            <a:r>
              <a:rPr lang="en-US" dirty="0"/>
              <a:t>Tech &amp; Finance offer highest salary growth opportunities</a:t>
            </a:r>
          </a:p>
          <a:p>
            <a:pPr>
              <a:lnSpc>
                <a:spcPct val="150000"/>
              </a:lnSpc>
            </a:pPr>
            <a:r>
              <a:rPr lang="en-US" dirty="0"/>
              <a:t>Higher education delivers strong ROI </a:t>
            </a:r>
          </a:p>
          <a:p>
            <a:pPr>
              <a:lnSpc>
                <a:spcPct val="150000"/>
              </a:lnSpc>
            </a:pPr>
            <a:r>
              <a:rPr lang="en-US" dirty="0"/>
              <a:t>Location and company type impact compensation significantly </a:t>
            </a:r>
          </a:p>
          <a:p>
            <a:pPr>
              <a:lnSpc>
                <a:spcPct val="150000"/>
              </a:lnSpc>
            </a:pPr>
            <a:r>
              <a:rPr lang="en-US" dirty="0"/>
              <a:t>Overall → The dataset reveals meaningful patterns to guide HR decisions and career planning.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2293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E84AC-A112-F33D-2A4E-5A1B252DE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176" y="1449414"/>
            <a:ext cx="8946541" cy="4195481"/>
          </a:xfrm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B77611-38C8-759D-092C-5802016C8F58}"/>
              </a:ext>
            </a:extLst>
          </p:cNvPr>
          <p:cNvSpPr/>
          <p:nvPr/>
        </p:nvSpPr>
        <p:spPr>
          <a:xfrm>
            <a:off x="2295144" y="2363724"/>
            <a:ext cx="6995160" cy="21305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3D5FFA-32A8-DB88-978D-8FDC9763CC41}"/>
              </a:ext>
            </a:extLst>
          </p:cNvPr>
          <p:cNvSpPr txBox="1"/>
          <p:nvPr/>
        </p:nvSpPr>
        <p:spPr>
          <a:xfrm>
            <a:off x="2450592" y="2902797"/>
            <a:ext cx="64830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THANK YOU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34452591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45</TotalTime>
  <Words>687</Words>
  <Application>Microsoft Office PowerPoint</Application>
  <PresentationFormat>Widescreen</PresentationFormat>
  <Paragraphs>88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Ion</vt:lpstr>
      <vt:lpstr>SALARY SURVEY  ANALYSIS</vt:lpstr>
      <vt:lpstr>OBJECTIVE</vt:lpstr>
      <vt:lpstr>ATTRIBUTES:</vt:lpstr>
      <vt:lpstr>DATA CLEANING</vt:lpstr>
      <vt:lpstr>SQL TRANSFORMATION</vt:lpstr>
      <vt:lpstr>QUERIES AND CHARTS  </vt:lpstr>
      <vt:lpstr>PowerPoint Presentation</vt:lpstr>
      <vt:lpstr>EXPORT TO EXCEL </vt:lpstr>
      <vt:lpstr>SALARY SURVEY DASHBOARD</vt:lpstr>
      <vt:lpstr>DASHBOARD SUMMARY: </vt:lpstr>
      <vt:lpstr>KEY INSIGHTS</vt:lpstr>
      <vt:lpstr>PowerPoint Presentation</vt:lpstr>
      <vt:lpstr>RECOMMENDATION &amp; CONCLUSION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R</dc:creator>
  <cp:lastModifiedBy>james R</cp:lastModifiedBy>
  <cp:revision>2</cp:revision>
  <dcterms:created xsi:type="dcterms:W3CDTF">2025-11-26T21:11:42Z</dcterms:created>
  <dcterms:modified xsi:type="dcterms:W3CDTF">2025-11-26T21:57:33Z</dcterms:modified>
</cp:coreProperties>
</file>